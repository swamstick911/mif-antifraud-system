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/>
    <p:restoredTop sz="94678"/>
  </p:normalViewPr>
  <p:slideViewPr>
    <p:cSldViewPr snapToGrid="0">
      <p:cViewPr varScale="1">
        <p:scale>
          <a:sx n="157" d="100"/>
          <a:sy n="157" d="100"/>
        </p:scale>
        <p:origin x="36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4C0D9-57D4-0C40-9DA0-07A0769BB880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37CCD-76D7-814E-AA8E-3A95FBE1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86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37CCD-76D7-814E-AA8E-3A95FBE1E62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2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s://bit.ly/3A1uf1Q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;p2"/>
          <p:cNvPicPr/>
          <p:nvPr/>
        </p:nvPicPr>
        <p:blipFill>
          <a:blip r:embed="rId2"/>
          <a:srcRect l="69" r="59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1;p2"/>
          <p:cNvPicPr/>
          <p:nvPr/>
        </p:nvPicPr>
        <p:blipFill>
          <a:blip r:embed="rId3"/>
          <a:srcRect l="30" r="30"/>
          <a:stretch/>
        </p:blipFill>
        <p:spPr>
          <a:xfrm>
            <a:off x="4320" y="0"/>
            <a:ext cx="913536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14960" y="1640160"/>
            <a:ext cx="7710840" cy="1704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404560" y="467352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300" b="0" u="none" strike="noStrike">
                <a:solidFill>
                  <a:schemeClr val="dk2"/>
                </a:solidFill>
                <a:effectLst/>
                <a:uFillTx/>
                <a:latin typeface="Roboto Black"/>
                <a:ea typeface="Roboto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F92004-91A3-4A4C-821F-2D3A5BF17DA3}" type="slidenum">
              <a:rPr lang="en" sz="1300" b="0" u="none" strike="noStrike">
                <a:solidFill>
                  <a:schemeClr val="dk2"/>
                </a:solidFill>
                <a:effectLst/>
                <a:uFillTx/>
                <a:latin typeface="Roboto Black"/>
                <a:ea typeface="Roboto Black"/>
              </a:rPr>
              <a:t>‹#›</a:t>
            </a:fld>
            <a:endParaRPr lang="en-US" sz="13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 spd="slow" advTm="0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78;p23"/>
          <p:cNvPicPr/>
          <p:nvPr/>
        </p:nvPicPr>
        <p:blipFill>
          <a:blip r:embed="rId2"/>
          <a:srcRect l="69" r="59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Google Shape;179;p23"/>
          <p:cNvPicPr/>
          <p:nvPr/>
        </p:nvPicPr>
        <p:blipFill>
          <a:blip r:embed="rId3"/>
          <a:srcRect l="30" r="30"/>
          <a:stretch/>
        </p:blipFill>
        <p:spPr>
          <a:xfrm rot="10800000">
            <a:off x="4320" y="0"/>
            <a:ext cx="913536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sldNum" idx="2"/>
          </p:nvPr>
        </p:nvSpPr>
        <p:spPr>
          <a:xfrm>
            <a:off x="8404560" y="467352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300" b="0" u="none" strike="noStrike">
                <a:solidFill>
                  <a:schemeClr val="dk2"/>
                </a:solidFill>
                <a:effectLst/>
                <a:uFillTx/>
                <a:latin typeface="Roboto Black"/>
                <a:ea typeface="Roboto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C0CD06-A7A3-4D08-9C43-D7216A297269}" type="slidenum">
              <a:rPr lang="en" sz="1300" b="0" u="none" strike="noStrike">
                <a:solidFill>
                  <a:schemeClr val="dk2"/>
                </a:solidFill>
                <a:effectLst/>
                <a:uFillTx/>
                <a:latin typeface="Roboto Black"/>
                <a:ea typeface="Roboto Black"/>
              </a:rPr>
              <a:t>‹#›</a:t>
            </a:fld>
            <a:endParaRPr lang="en-US" sz="13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 spd="slow" advTm="0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257;p35"/>
          <p:cNvPicPr/>
          <p:nvPr/>
        </p:nvPicPr>
        <p:blipFill>
          <a:blip r:embed="rId2"/>
          <a:srcRect l="69" r="59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Google Shape;258;p35"/>
          <p:cNvPicPr/>
          <p:nvPr/>
        </p:nvPicPr>
        <p:blipFill>
          <a:blip r:embed="rId3"/>
          <a:srcRect l="30" r="30"/>
          <a:stretch/>
        </p:blipFill>
        <p:spPr>
          <a:xfrm>
            <a:off x="4320" y="0"/>
            <a:ext cx="913536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sldNum" idx="3"/>
          </p:nvPr>
        </p:nvSpPr>
        <p:spPr>
          <a:xfrm>
            <a:off x="8404560" y="467352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300" b="0" u="none" strike="noStrike">
                <a:solidFill>
                  <a:schemeClr val="dk2"/>
                </a:solidFill>
                <a:effectLst/>
                <a:uFillTx/>
                <a:latin typeface="Roboto Black"/>
                <a:ea typeface="Roboto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6AAC87-6EBC-412E-B3C8-BD880C64F0B2}" type="slidenum">
              <a:rPr lang="en" sz="1300" b="0" u="none" strike="noStrike">
                <a:solidFill>
                  <a:schemeClr val="dk2"/>
                </a:solidFill>
                <a:effectLst/>
                <a:uFillTx/>
                <a:latin typeface="Roboto Black"/>
                <a:ea typeface="Roboto Black"/>
              </a:rPr>
              <a:t>‹#›</a:t>
            </a:fld>
            <a:endParaRPr lang="en-US" sz="13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" name="Google Shape;261;p35"/>
          <p:cNvSpPr/>
          <p:nvPr/>
        </p:nvSpPr>
        <p:spPr>
          <a:xfrm>
            <a:off x="720000" y="3771720"/>
            <a:ext cx="4359600" cy="46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b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100" b="0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CREDITS: This presentation template was created by </a:t>
            </a:r>
            <a:r>
              <a:rPr lang="en" sz="1100" b="1" u="sng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4"/>
              </a:rPr>
              <a:t>Slidesgo</a:t>
            </a:r>
            <a:r>
              <a:rPr lang="en" sz="1100" b="0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, and includes icons, infographics &amp; images by </a:t>
            </a:r>
            <a:r>
              <a:rPr lang="en" sz="1100" b="1" u="sng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5"/>
              </a:rPr>
              <a:t>Freepik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title"/>
          </p:nvPr>
        </p:nvSpPr>
        <p:spPr>
          <a:xfrm>
            <a:off x="720000" y="680040"/>
            <a:ext cx="4447800" cy="954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transition spd="slow" advTm="0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 advTm="0">
    <p:randomBar dir="vert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282;p41"/>
          <p:cNvCxnSpPr/>
          <p:nvPr/>
        </p:nvCxnSpPr>
        <p:spPr>
          <a:xfrm>
            <a:off x="716400" y="3344760"/>
            <a:ext cx="7711560" cy="360"/>
          </a:xfrm>
          <a:prstGeom prst="straightConnector1">
            <a:avLst/>
          </a:prstGeom>
          <a:ln w="19050">
            <a:solidFill>
              <a:srgbClr val="B79C79"/>
            </a:solidFill>
            <a:round/>
          </a:ln>
        </p:spPr>
      </p:cxnSp>
      <p:grpSp>
        <p:nvGrpSpPr>
          <p:cNvPr id="18" name="Google Shape;283;p41"/>
          <p:cNvGrpSpPr/>
          <p:nvPr/>
        </p:nvGrpSpPr>
        <p:grpSpPr>
          <a:xfrm>
            <a:off x="7615080" y="534960"/>
            <a:ext cx="651240" cy="903960"/>
            <a:chOff x="7615080" y="534960"/>
            <a:chExt cx="651240" cy="903960"/>
          </a:xfrm>
        </p:grpSpPr>
        <p:sp>
          <p:nvSpPr>
            <p:cNvPr id="19" name="Google Shape;284;p41"/>
            <p:cNvSpPr/>
            <p:nvPr/>
          </p:nvSpPr>
          <p:spPr>
            <a:xfrm>
              <a:off x="7615080" y="534960"/>
              <a:ext cx="651240" cy="651240"/>
            </a:xfrm>
            <a:prstGeom prst="diamond">
              <a:avLst/>
            </a:prstGeom>
            <a:solidFill>
              <a:srgbClr val="B79C79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85;p41"/>
            <p:cNvSpPr/>
            <p:nvPr/>
          </p:nvSpPr>
          <p:spPr>
            <a:xfrm>
              <a:off x="7615080" y="787680"/>
              <a:ext cx="651240" cy="651240"/>
            </a:xfrm>
            <a:prstGeom prst="diamond">
              <a:avLst/>
            </a:prstGeom>
            <a:noFill/>
            <a:ln w="19050">
              <a:solidFill>
                <a:srgbClr val="B79C7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714240" y="1638360"/>
            <a:ext cx="771480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85000" lnSpcReduction="19999"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55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MIF Anti-Fraud</a:t>
            </a:r>
            <a:endParaRPr lang="en-US" sz="55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4240" y="4105440"/>
            <a:ext cx="771480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00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Practical detection and mitigation for message, image, and call scams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 spd="slow" advTm="0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819000" y="628560"/>
            <a:ext cx="75052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B79C79"/>
                </a:solidFill>
                <a:effectLst/>
                <a:uFillTx/>
                <a:latin typeface="Roboto"/>
              </a:rPr>
              <a:t>Distinct Fraud Vectors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19000" y="1390680"/>
            <a:ext cx="750528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Message-bombing, image-download malware, and fake-call scams are three different types of online threats.</a:t>
            </a:r>
          </a:p>
          <a:p>
            <a:r>
              <a:rPr lang="en-IN" sz="1600" dirty="0">
                <a:solidFill>
                  <a:schemeClr val="bg1"/>
                </a:solidFill>
              </a:rPr>
              <a:t>1. Message-bombing: Scammers use computer programs to send hundreds of messages or OTPs (one-time passwords) to a person's phone in a short time.</a:t>
            </a:r>
          </a:p>
          <a:p>
            <a:r>
              <a:rPr lang="en-IN" sz="1600" dirty="0">
                <a:solidFill>
                  <a:schemeClr val="bg1"/>
                </a:solidFill>
              </a:rPr>
              <a:t>2. Image-download malware: A picture may look harmless, but downloading it can sometimes infect a device with harmful software, such as spyware, especially if the device has outdated security.</a:t>
            </a:r>
          </a:p>
          <a:p>
            <a:r>
              <a:rPr lang="en-IN" sz="1600" dirty="0">
                <a:solidFill>
                  <a:schemeClr val="bg1"/>
                </a:solidFill>
              </a:rPr>
              <a:t>3. Fake-call scams: Scammers make phone calls using fake phone numbers or caller IDs. They may pretend to be police officers or government officials to trick people into sharing personal information or money.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Safety tips: Never share OTPs or personal details with strangers, avoid downloading files from unknown sources, keep your device updated, and verify suspicious calls before trusting them.</a:t>
            </a:r>
          </a:p>
        </p:txBody>
      </p:sp>
    </p:spTree>
  </p:cSld>
  <p:clrMapOvr>
    <a:masterClrMapping/>
  </p:clrMapOvr>
  <p:transition spd="slow" advTm="0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2219400" y="2152800"/>
            <a:ext cx="104400" cy="9000"/>
          </a:xfrm>
          <a:prstGeom prst="roundRect">
            <a:avLst>
              <a:gd name="adj" fmla="val 16667"/>
            </a:avLst>
          </a:prstGeom>
          <a:solidFill>
            <a:srgbClr val="B79C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714840" y="2152800"/>
            <a:ext cx="104400" cy="9000"/>
          </a:xfrm>
          <a:prstGeom prst="roundRect">
            <a:avLst>
              <a:gd name="adj" fmla="val 16667"/>
            </a:avLst>
          </a:prstGeom>
          <a:solidFill>
            <a:srgbClr val="B79C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219640" y="2152800"/>
            <a:ext cx="104400" cy="9000"/>
          </a:xfrm>
          <a:prstGeom prst="roundRect">
            <a:avLst>
              <a:gd name="adj" fmla="val 16667"/>
            </a:avLst>
          </a:prstGeom>
          <a:solidFill>
            <a:srgbClr val="B79C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724800" y="2152800"/>
            <a:ext cx="104400" cy="9000"/>
          </a:xfrm>
          <a:prstGeom prst="roundRect">
            <a:avLst>
              <a:gd name="adj" fmla="val 16667"/>
            </a:avLst>
          </a:prstGeom>
          <a:solidFill>
            <a:srgbClr val="B79C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19000" y="2066760"/>
            <a:ext cx="1399680" cy="180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514520" y="2247840"/>
            <a:ext cx="9000" cy="285480"/>
          </a:xfrm>
          <a:prstGeom prst="roundRect">
            <a:avLst>
              <a:gd name="adj" fmla="val 16667"/>
            </a:avLst>
          </a:prstGeom>
          <a:solidFill>
            <a:srgbClr val="B79C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324160" y="2066760"/>
            <a:ext cx="1390320" cy="180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019320" y="2247840"/>
            <a:ext cx="9000" cy="285480"/>
          </a:xfrm>
          <a:prstGeom prst="roundRect">
            <a:avLst>
              <a:gd name="adj" fmla="val 16667"/>
            </a:avLst>
          </a:prstGeom>
          <a:solidFill>
            <a:srgbClr val="B79C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819600" y="2066760"/>
            <a:ext cx="1399680" cy="180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524480" y="2247840"/>
            <a:ext cx="9000" cy="285480"/>
          </a:xfrm>
          <a:prstGeom prst="roundRect">
            <a:avLst>
              <a:gd name="adj" fmla="val 16667"/>
            </a:avLst>
          </a:prstGeom>
          <a:solidFill>
            <a:srgbClr val="B79C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324400" y="2066760"/>
            <a:ext cx="1399680" cy="180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019920" y="2247840"/>
            <a:ext cx="9000" cy="285480"/>
          </a:xfrm>
          <a:prstGeom prst="roundRect">
            <a:avLst>
              <a:gd name="adj" fmla="val 16667"/>
            </a:avLst>
          </a:prstGeom>
          <a:solidFill>
            <a:srgbClr val="B79C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829560" y="2066760"/>
            <a:ext cx="1390320" cy="180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524720" y="2247840"/>
            <a:ext cx="9000" cy="285480"/>
          </a:xfrm>
          <a:prstGeom prst="roundRect">
            <a:avLst>
              <a:gd name="adj" fmla="val 16667"/>
            </a:avLst>
          </a:prstGeom>
          <a:solidFill>
            <a:srgbClr val="B79C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19000" y="628560"/>
            <a:ext cx="75052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B79C79"/>
                </a:solidFill>
                <a:effectLst/>
                <a:uFillTx/>
                <a:latin typeface="Roboto"/>
              </a:rPr>
              <a:t>Detect &amp; Mitigate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19000" y="1371600"/>
            <a:ext cx="13996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79C79"/>
                </a:solidFill>
                <a:effectLst/>
                <a:uFillTx/>
                <a:latin typeface="Roboto"/>
              </a:rPr>
              <a:t>Ingest Telemetry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9000" y="2610000"/>
            <a:ext cx="1399680" cy="14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Collect timestamp, sender ID, destination, and message type; maintain per-destination sliding windows: 1 min, 5 min, 1 hr.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324160" y="1371600"/>
            <a:ext cx="13903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79C79"/>
                </a:solidFill>
                <a:effectLst/>
                <a:uFillTx/>
                <a:latin typeface="Roboto"/>
              </a:rPr>
              <a:t>Signal Checks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24160" y="2610000"/>
            <a:ext cx="139032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Evaluate per-sender rate, per-destination aggregate rate, repeat-content ratio, and rapid source rotation.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819600" y="1371600"/>
            <a:ext cx="13996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79C79"/>
                </a:solidFill>
                <a:effectLst/>
                <a:uFillTx/>
                <a:latin typeface="Roboto"/>
              </a:rPr>
              <a:t>Score &amp; Bands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819600" y="2610000"/>
            <a:ext cx="1399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Compute a 0–100 score by combining signals; escalate through defined bands for action.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324400" y="1371600"/>
            <a:ext cx="139968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79C79"/>
                </a:solidFill>
                <a:effectLst/>
                <a:uFillTx/>
                <a:latin typeface="Roboto"/>
              </a:rPr>
              <a:t>Mitigation Actions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324400" y="2610000"/>
            <a:ext cx="1399680" cy="14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Mid scores: soft block with throttling and challenge; high scores: hard block plus alert; suspected OTPs: opt-out/confirm flow.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829560" y="1371600"/>
            <a:ext cx="139032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79C79"/>
                </a:solidFill>
                <a:effectLst/>
                <a:uFillTx/>
                <a:latin typeface="Roboto"/>
              </a:rPr>
              <a:t>Monitor &amp; Rollback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829560" y="2610000"/>
            <a:ext cx="139032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Track false positives (&lt;1%); provide user self-appeal; feed metrics to a live dashboard for rapid rollback.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 spd="slow" advTm="0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819000" y="628560"/>
            <a:ext cx="75052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B79C79"/>
                </a:solidFill>
                <a:effectLst/>
                <a:uFillTx/>
                <a:latin typeface="Roboto"/>
              </a:rPr>
              <a:t>Image Threats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19000" y="1390680"/>
            <a:ext cx="750528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Detection systems can help protect people from harmful image downloads by checking the sender, file details, and the file’s behaviour in a safe testing environment.</a:t>
            </a:r>
          </a:p>
          <a:p>
            <a:r>
              <a:rPr lang="en-IN" sz="1400" dirty="0">
                <a:solidFill>
                  <a:schemeClr val="bg1"/>
                </a:solidFill>
              </a:rPr>
              <a:t>Warning signs include:</a:t>
            </a:r>
          </a:p>
          <a:p>
            <a:pPr>
              <a:buFont typeface="+mj-lt"/>
              <a:buAutoNum type="arabicPeriod"/>
            </a:pPr>
            <a:r>
              <a:rPr lang="en-IN" sz="1400" dirty="0">
                <a:solidFill>
                  <a:schemeClr val="bg1"/>
                </a:solidFill>
              </a:rPr>
              <a:t>Unknown senders: Messages from unfamiliar people that are sent to many users.</a:t>
            </a:r>
          </a:p>
          <a:p>
            <a:pPr>
              <a:buFont typeface="+mj-lt"/>
              <a:buAutoNum type="arabicPeriod"/>
            </a:pPr>
            <a:r>
              <a:rPr lang="en-IN" sz="1400" dirty="0">
                <a:solidFill>
                  <a:schemeClr val="bg1"/>
                </a:solidFill>
              </a:rPr>
              <a:t>Suspicious file details: The file may claim to be an image but contain unusual or mismatched information.</a:t>
            </a:r>
          </a:p>
          <a:p>
            <a:pPr>
              <a:buFont typeface="+mj-lt"/>
              <a:buAutoNum type="arabicPeriod"/>
            </a:pPr>
            <a:r>
              <a:rPr lang="en-IN" sz="1400" dirty="0">
                <a:solidFill>
                  <a:schemeClr val="bg1"/>
                </a:solidFill>
              </a:rPr>
              <a:t>Unsafe </a:t>
            </a:r>
            <a:r>
              <a:rPr lang="en-IN" sz="1400" dirty="0" err="1">
                <a:solidFill>
                  <a:schemeClr val="bg1"/>
                </a:solidFill>
              </a:rPr>
              <a:t>behavior</a:t>
            </a:r>
            <a:r>
              <a:rPr lang="en-IN" sz="1400" dirty="0">
                <a:solidFill>
                  <a:schemeClr val="bg1"/>
                </a:solidFill>
              </a:rPr>
              <a:t>: A security test may show that the file tries to do something other than display an image.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Safety warning</a:t>
            </a:r>
            <a:r>
              <a:rPr lang="en-IN" sz="1400" dirty="0">
                <a:solidFill>
                  <a:schemeClr val="bg1"/>
                </a:solidFill>
              </a:rPr>
              <a:t>: Before downloading, the device can show a message such as: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⚠️ Unknown sender and suspicious file detected. Do you still want to download it?</a:t>
            </a:r>
          </a:p>
          <a:p>
            <a:r>
              <a:rPr lang="en-IN" sz="1400" dirty="0">
                <a:solidFill>
                  <a:schemeClr val="bg1"/>
                </a:solidFill>
              </a:rPr>
              <a:t>The warning should also include a Report option so users can report suspicious files.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Remember:</a:t>
            </a:r>
            <a:r>
              <a:rPr lang="en-IN" sz="1400" dirty="0">
                <a:solidFill>
                  <a:schemeClr val="bg1"/>
                </a:solidFill>
              </a:rPr>
              <a:t> If a file looks suspicious, don't download it. Report it and ask a trusted adult for help.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 spd="slow" advTm="0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942840" y="1333440"/>
            <a:ext cx="2371320" cy="18720"/>
          </a:xfrm>
          <a:prstGeom prst="rect">
            <a:avLst/>
          </a:prstGeom>
          <a:solidFill>
            <a:srgbClr val="B79C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25920" rIns="90000" bIns="-259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438360" y="1333440"/>
            <a:ext cx="2371320" cy="18720"/>
          </a:xfrm>
          <a:prstGeom prst="rect">
            <a:avLst/>
          </a:prstGeom>
          <a:solidFill>
            <a:srgbClr val="B79C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25920" rIns="90000" bIns="-259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934240" y="1333440"/>
            <a:ext cx="2828520" cy="18720"/>
          </a:xfrm>
          <a:prstGeom prst="rect">
            <a:avLst/>
          </a:prstGeom>
          <a:solidFill>
            <a:srgbClr val="B79C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25920" rIns="90000" bIns="-259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819000" y="1276200"/>
            <a:ext cx="123480" cy="1141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36000" rIns="90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3314880" y="1276200"/>
            <a:ext cx="123480" cy="1141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36000" rIns="90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5810400" y="1276200"/>
            <a:ext cx="123480" cy="1141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36000" rIns="90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80880" y="3114720"/>
            <a:ext cx="437760" cy="18720"/>
          </a:xfrm>
          <a:prstGeom prst="rect">
            <a:avLst/>
          </a:prstGeom>
          <a:solidFill>
            <a:srgbClr val="B79C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25920" rIns="90000" bIns="-259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42840" y="3114720"/>
            <a:ext cx="2371320" cy="18720"/>
          </a:xfrm>
          <a:prstGeom prst="rect">
            <a:avLst/>
          </a:prstGeom>
          <a:solidFill>
            <a:srgbClr val="B79C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25920" rIns="90000" bIns="-259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438360" y="3114720"/>
            <a:ext cx="2371320" cy="18720"/>
          </a:xfrm>
          <a:prstGeom prst="rect">
            <a:avLst/>
          </a:prstGeom>
          <a:solidFill>
            <a:srgbClr val="B79C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25920" rIns="90000" bIns="-259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819000" y="3057480"/>
            <a:ext cx="123480" cy="1141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36000" rIns="90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3314880" y="3057480"/>
            <a:ext cx="123480" cy="1141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36000" rIns="90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5810400" y="3057480"/>
            <a:ext cx="123480" cy="1141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36000" rIns="90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19000" y="628560"/>
            <a:ext cx="75052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B79C79"/>
                </a:solidFill>
                <a:effectLst/>
                <a:uFillTx/>
                <a:latin typeface="Roboto"/>
              </a:rPr>
              <a:t>Call Fraud Screen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19000" y="1438200"/>
            <a:ext cx="2352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79C79"/>
                </a:solidFill>
                <a:effectLst/>
                <a:uFillTx/>
                <a:latin typeface="Roboto"/>
              </a:rPr>
              <a:t>Collect metadata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19000" y="2028960"/>
            <a:ext cx="235224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Gather call data: number, CNAM/ID, SIP headers, origin carrier, and geolocation consistency.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3314880" y="1438200"/>
            <a:ext cx="236196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B79C79"/>
                </a:solidFill>
                <a:effectLst/>
                <a:uFillTx/>
                <a:latin typeface="Roboto"/>
              </a:rPr>
              <a:t>Query reputations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314880" y="2028960"/>
            <a:ext cx="236196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Check internal spam DB, third‑party threat intel, and known spoofed‑ID lists.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5810400" y="1438200"/>
            <a:ext cx="236196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79C79"/>
                </a:solidFill>
                <a:effectLst/>
                <a:uFillTx/>
                <a:latin typeface="Roboto"/>
              </a:rPr>
              <a:t>Signal fusion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810400" y="2028960"/>
            <a:ext cx="236196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Compute a composite score from SIP anomalies, caller vs network origin mismatch, and user reports.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819000" y="3219480"/>
            <a:ext cx="2352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79C79"/>
                </a:solidFill>
                <a:effectLst/>
                <a:uFillTx/>
                <a:latin typeface="Roboto"/>
              </a:rPr>
              <a:t>Mitigation actions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819000" y="3809880"/>
            <a:ext cx="235224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Low risk: tag as ‘Likely business’; medium: warning banner and voicemail; high: automated challenge or drop.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3314880" y="3219480"/>
            <a:ext cx="236196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79C79"/>
                </a:solidFill>
                <a:effectLst/>
                <a:uFillTx/>
                <a:latin typeface="Roboto"/>
              </a:rPr>
              <a:t>Vulnerable users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3314880" y="3809880"/>
            <a:ext cx="236196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Opt‑in strict mode for elderly accounts; auto‑route suspicious calls to family or trusted contacts.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5810400" y="3219480"/>
            <a:ext cx="236196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79C79"/>
                </a:solidFill>
                <a:effectLst/>
                <a:uFillTx/>
                <a:latin typeface="Roboto"/>
              </a:rPr>
              <a:t>Logging &amp; appeals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5810400" y="3809880"/>
            <a:ext cx="236196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Store call recordings and provide one‑click report to update reputation lists.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 spd="slow" advTm="0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/>
          <p:cNvSpPr/>
          <p:nvPr/>
        </p:nvSpPr>
        <p:spPr>
          <a:xfrm>
            <a:off x="819000" y="628560"/>
            <a:ext cx="75052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B79C79"/>
                </a:solidFill>
                <a:effectLst/>
                <a:uFillTx/>
                <a:latin typeface="Roboto"/>
              </a:rPr>
              <a:t>Impact-Driven Defenses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819000" y="1467000"/>
            <a:ext cx="358092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Low per-action compute, scalable with telemetry. Detects floods within seconds, keeping flood impact small. Minimal user friction, but may require capacity growth to keep up with peak volume.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743360" y="1467000"/>
            <a:ext cx="358092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Call screening is real-time and high-touch, increasing cost per interaction but protecting vulnerable users. Image sandboxing adds CPU load and is asynchronous, sometimes with a warning instead of immediate blocking.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819000" y="4181400"/>
            <a:ext cx="75052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Roboto"/>
              </a:rPr>
              <a:t>Prioritize by scale and harm: detect message floods first, protect high-risk users with call screening, then deploy image warnings as capacity allows.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 spd="slow" advTm="0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/>
          <p:cNvSpPr/>
          <p:nvPr/>
        </p:nvSpPr>
        <p:spPr>
          <a:xfrm>
            <a:off x="819000" y="628560"/>
            <a:ext cx="75052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B79C79"/>
                </a:solidFill>
                <a:effectLst/>
                <a:uFillTx/>
                <a:latin typeface="Roboto"/>
              </a:rPr>
              <a:t>Guard with Confidence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819000" y="1390680"/>
            <a:ext cx="7505280" cy="30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Fraud protection should be a regular feature of an app, not just a one-time solution. It should identify different threats, such as message-bombing, harmful image downloads, and fake phone calls.</a:t>
            </a:r>
          </a:p>
          <a:p>
            <a:r>
              <a:rPr lang="en-IN" sz="1600" dirty="0">
                <a:solidFill>
                  <a:schemeClr val="bg1"/>
                </a:solidFill>
              </a:rPr>
              <a:t>To stay safe, apps can use these methods:</a:t>
            </a:r>
          </a:p>
          <a:p>
            <a:pPr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</a:rPr>
              <a:t>Rate limiting: Stop too many messages or OTPs from being sent in a short time.</a:t>
            </a:r>
          </a:p>
          <a:p>
            <a:pPr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</a:rPr>
              <a:t>Pattern detection: Identify unusual activity that may indicate a scam.</a:t>
            </a:r>
          </a:p>
          <a:p>
            <a:pPr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</a:rPr>
              <a:t>Image safety checks: Check suspicious images and warn users before they download them.</a:t>
            </a:r>
          </a:p>
          <a:p>
            <a:pPr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</a:rPr>
              <a:t>Call screening: Identify suspicious phone numbers and warn users about possible fake calls.</a:t>
            </a:r>
          </a:p>
          <a:p>
            <a:pPr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</a:rPr>
              <a:t>Testing and improvement: Test security features carefully and introduce them step by step to avoid unnecessary warnings and extra costs.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Conclusion:</a:t>
            </a:r>
            <a:r>
              <a:rPr lang="en-IN" sz="1600" dirty="0">
                <a:solidFill>
                  <a:schemeClr val="bg1"/>
                </a:solidFill>
              </a:rPr>
              <a:t> A good fraud protection system helps detect scams early, protects users, and makes apps safer without disturbing normal use.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 spd="slow" advTm="0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11CD3-1633-D739-191D-C1EA53A19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D13D1-D602-A260-3538-1965A59A6B5B}"/>
              </a:ext>
            </a:extLst>
          </p:cNvPr>
          <p:cNvSpPr txBox="1"/>
          <p:nvPr/>
        </p:nvSpPr>
        <p:spPr>
          <a:xfrm>
            <a:off x="719999" y="1713188"/>
            <a:ext cx="473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Any doubts judges??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E46FB5-E2EF-47F0-7A20-86574B0C4684}"/>
              </a:ext>
            </a:extLst>
          </p:cNvPr>
          <p:cNvSpPr txBox="1"/>
          <p:nvPr/>
        </p:nvSpPr>
        <p:spPr>
          <a:xfrm>
            <a:off x="719999" y="3895571"/>
            <a:ext cx="340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Presented by CF-33</a:t>
            </a:r>
          </a:p>
        </p:txBody>
      </p:sp>
    </p:spTree>
    <p:extLst>
      <p:ext uri="{BB962C8B-B14F-4D97-AF65-F5344CB8AC3E}">
        <p14:creationId xmlns:p14="http://schemas.microsoft.com/office/powerpoint/2010/main" val="1283033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:randomBar dir="vert"/>
      </p:transition>
    </mc:Choice>
    <mc:Fallback>
      <p:transition spd="slow" advTm="0">
        <p:randomBar dir="vert"/>
      </p:transition>
    </mc:Fallback>
  </mc:AlternateContent>
</p:sld>
</file>

<file path=ppt/theme/theme1.xml><?xml version="1.0" encoding="utf-8"?>
<a:theme xmlns:a="http://schemas.openxmlformats.org/drawingml/2006/main" name="Bank Loan &amp; Credits Consulting Toolkit by Slidesgo">
  <a:themeElements>
    <a:clrScheme name="Simple Light">
      <a:dk1>
        <a:srgbClr val="191919"/>
      </a:dk1>
      <a:lt1>
        <a:srgbClr val="FFFFFF"/>
      </a:lt1>
      <a:dk2>
        <a:srgbClr val="B79C79"/>
      </a:dk2>
      <a:lt2>
        <a:srgbClr val="6811B3"/>
      </a:lt2>
      <a:accent1>
        <a:srgbClr val="530D8F"/>
      </a:accent1>
      <a:accent2>
        <a:srgbClr val="00000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B79C7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</TotalTime>
  <Words>828</Words>
  <Application>Microsoft Macintosh PowerPoint</Application>
  <PresentationFormat>On-screen Show (16:9)</PresentationFormat>
  <Paragraphs>62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OpenSymbol</vt:lpstr>
      <vt:lpstr>Roboto</vt:lpstr>
      <vt:lpstr>Roboto Black</vt:lpstr>
      <vt:lpstr>Symbol</vt:lpstr>
      <vt:lpstr>Wingdings</vt:lpstr>
      <vt:lpstr>Bank Loan &amp; Credits Consulting Toolkit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Ruchir Gupta</cp:lastModifiedBy>
  <cp:revision>5</cp:revision>
  <dcterms:modified xsi:type="dcterms:W3CDTF">2026-10-17T03:37:19Z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2026-10-16T18:09:20Z</dcterms:created>
  <dc:creator>Slidesgo AI</dc:creator>
  <dc:description/>
  <dc:language>en-US</dc:language>
  <cp:lastModifiedBy>Unknown Creator</cp:lastModifiedBy>
  <dcterms:modified xsi:type="dcterms:W3CDTF">2026-10-16T18:09:20Z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a2ff4e03-e974-4d64-a5b7-9e45e2a5d92b</vt:lpwstr>
  </property>
</Properties>
</file>